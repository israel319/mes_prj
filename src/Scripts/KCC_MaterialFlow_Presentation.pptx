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dcc473bfa7e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100"/>
    <p:sldId xmlns:r="http://schemas.openxmlformats.org/officeDocument/2006/relationships" id="257" r:id="rId101"/>
    <p:sldId xmlns:r="http://schemas.openxmlformats.org/officeDocument/2006/relationships" id="258" r:id="rId102"/>
    <p:sldId xmlns:r="http://schemas.openxmlformats.org/officeDocument/2006/relationships" id="259" r:id="rId103"/>
    <p:sldId xmlns:r="http://schemas.openxmlformats.org/officeDocument/2006/relationships" id="260" r:id="rId104"/>
    <p:sldId xmlns:r="http://schemas.openxmlformats.org/officeDocument/2006/relationships" id="261" r:id="rId105"/>
    <p:sldId xmlns:r="http://schemas.openxmlformats.org/officeDocument/2006/relationships" id="262" r:id="rId106"/>
    <p:sldId xmlns:r="http://schemas.openxmlformats.org/officeDocument/2006/relationships" id="263" r:id="rId107"/>
    <p:sldId xmlns:r="http://schemas.openxmlformats.org/officeDocument/2006/relationships" id="264" r:id="rId108"/>
    <p:sldId xmlns:r="http://schemas.openxmlformats.org/officeDocument/2006/relationships" id="265" r:id="rId109"/>
    <p:sldId xmlns:r="http://schemas.openxmlformats.org/officeDocument/2006/relationships" id="266" r:id="rId110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5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100" /><Relationship Type="http://schemas.openxmlformats.org/officeDocument/2006/relationships/slide" Target="/ppt/slides/slide2.xml" Id="rId101" /><Relationship Type="http://schemas.openxmlformats.org/officeDocument/2006/relationships/slide" Target="/ppt/slides/slide3.xml" Id="rId102" /><Relationship Type="http://schemas.openxmlformats.org/officeDocument/2006/relationships/slide" Target="/ppt/slides/slide4.xml" Id="rId103" /><Relationship Type="http://schemas.openxmlformats.org/officeDocument/2006/relationships/slide" Target="/ppt/slides/slide5.xml" Id="rId104" /><Relationship Type="http://schemas.openxmlformats.org/officeDocument/2006/relationships/slide" Target="/ppt/slides/slide6.xml" Id="rId105" /><Relationship Type="http://schemas.openxmlformats.org/officeDocument/2006/relationships/slide" Target="/ppt/slides/slide7.xml" Id="rId106" /><Relationship Type="http://schemas.openxmlformats.org/officeDocument/2006/relationships/slide" Target="/ppt/slides/slide8.xml" Id="rId107" /><Relationship Type="http://schemas.openxmlformats.org/officeDocument/2006/relationships/slide" Target="/ppt/slides/slide9.xml" Id="rId108" /><Relationship Type="http://schemas.openxmlformats.org/officeDocument/2006/relationships/slide" Target="/ppt/slides/slide10.xml" Id="rId109" /><Relationship Type="http://schemas.openxmlformats.org/officeDocument/2006/relationships/slide" Target="/ppt/slides/slide11.xml" Id="rId110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800000"/>
            <a:ext cx="30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44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KCC</a:t>
            </a:r>
          </a:p>
        </p:txBody>
      </p:sp>
      <p:sp>
        <p:nvSpPr>
          <p:cNvPr id="4" name="TextBox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400000"/>
            <a:ext cx="6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8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KAMOTO COPPER COMPANY</a:t>
            </a:r>
          </a:p>
        </p:txBody>
      </p:sp>
      <p:sp>
        <p:nvSpPr>
          <p:cNvPr id="5" name="TextBox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600000"/>
            <a:ext cx="110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5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KCC Material Flow</a:t>
            </a:r>
          </a:p>
        </p:txBody>
      </p:sp>
      <p:sp>
        <p:nvSpPr>
          <p:cNvPr id="6" name="TextBox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900000"/>
            <a:ext cx="11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0" dirty="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Système de Gestion des Flux de Matériels</a:t>
            </a:r>
          </a:p>
        </p:txBody>
      </p:sp>
      <p:sp>
        <p:nvSpPr>
          <p:cNvPr id="7" name="Rect7"/>
          <p:cNvSpPr/>
          <p:nvPr/>
        </p:nvSpPr>
        <p:spPr>
          <a:xfrm xmlns:a="http://schemas.openxmlformats.org/drawingml/2006/main">
            <a:off x="400000" y="4700000"/>
            <a:ext cx="40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100000"/>
            <a:ext cx="6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Direction des Systèmes d'Information  •  Mars 2026</a:t>
            </a:r>
          </a:p>
        </p:txBody>
      </p:sp>
      <p:sp>
        <p:nvSpPr>
          <p:cNvPr id="9" name="TextBox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50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Version 1.0  •  Confidentiel</a:t>
            </a:r>
          </a:p>
        </p:txBody>
      </p:sp>
      <p:sp>
        <p:nvSpPr>
          <p:cNvPr id="10" name="Rect10"/>
          <p:cNvSpPr/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11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Rect12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TextBox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Contexte &amp; Problématique</a:t>
            </a:r>
          </a:p>
        </p:txBody>
      </p:sp>
      <p:sp>
        <p:nvSpPr>
          <p:cNvPr id="15" name="Rect15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Box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54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6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CONTEXTE</a:t>
            </a:r>
          </a:p>
        </p:txBody>
      </p:sp>
      <p:sp>
        <p:nvSpPr>
          <p:cNvPr id="17" name="BulletList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100000"/>
            <a:ext cx="5400000" cy="2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KCC opère 8+ sites miniers avec des flux quotidiens de matériels entre sites, contractants et départements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Processus papier actuel : bons de sortie manuels, signatures physiques, registres aux barrières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Temps de traitement moyen : 3-5 jours par bon de sortie avec le processus manuel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Traçabilité limitée : pas de visibilité temps réel sur les mouvements de matériels</a:t>
            </a:r>
          </a:p>
        </p:txBody>
      </p:sp>
      <p:sp>
        <p:nvSpPr>
          <p:cNvPr id="18" name="RRect18"/>
          <p:cNvSpPr/>
          <p:nvPr/>
        </p:nvSpPr>
        <p:spPr>
          <a:xfrm xmlns:a="http://schemas.openxmlformats.org/drawingml/2006/main">
            <a:off x="6200000" y="1500000"/>
            <a:ext cx="5600000" cy="3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Box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0" y="1700000"/>
            <a:ext cx="5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6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PROBLÉMATIQUES</a:t>
            </a:r>
          </a:p>
        </p:txBody>
      </p:sp>
      <p:sp>
        <p:nvSpPr>
          <p:cNvPr id="20" name="BulletList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0" y="2300000"/>
            <a:ext cx="50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Pertes &amp; vols non détectés rapidement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Approbations bloquées par absence physique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Pas de contrôle aux checkpoints (barrières)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Données non centralisées, reporting impossible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Conformité réglementaire non garantie</a:t>
            </a:r>
          </a:p>
        </p:txBody>
      </p:sp>
      <p:sp>
        <p:nvSpPr>
          <p:cNvPr id="21" name="Rect21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Box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23" name="TextBox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24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Rect25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7" name="TextBox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Solution : KCC Material Flow</a:t>
            </a:r>
          </a:p>
        </p:txBody>
      </p:sp>
      <p:sp>
        <p:nvSpPr>
          <p:cNvPr id="28" name="Rect28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11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Application web moderne de gestion des flux de matériels avec traçabilité complète, workflows d'approbation et contrôle aux barrières.</a:t>
            </a:r>
          </a:p>
        </p:txBody>
      </p:sp>
      <p:sp>
        <p:nvSpPr>
          <p:cNvPr id="30" name="RRect30"/>
          <p:cNvSpPr/>
          <p:nvPr/>
        </p:nvSpPr>
        <p:spPr>
          <a:xfrm xmlns:a="http://schemas.openxmlformats.org/drawingml/2006/main">
            <a:off x="400000" y="2400000"/>
            <a:ext cx="2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Box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600000"/>
            <a:ext cx="2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Bon d'Entrée</a:t>
            </a:r>
          </a:p>
        </p:txBody>
      </p:sp>
      <p:sp>
        <p:nvSpPr>
          <p:cNvPr id="32" name="TextBox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100000"/>
            <a:ext cx="2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Réception matériels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Scan QR Code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Liaison compagnie/contrat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Stock automatique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Historique complet</a:t>
            </a:r>
          </a:p>
        </p:txBody>
      </p:sp>
      <p:sp>
        <p:nvSpPr>
          <p:cNvPr id="33" name="RRect33"/>
          <p:cNvSpPr/>
          <p:nvPr/>
        </p:nvSpPr>
        <p:spPr>
          <a:xfrm xmlns:a="http://schemas.openxmlformats.org/drawingml/2006/main">
            <a:off x="3200000" y="2400000"/>
            <a:ext cx="2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Box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00" y="2600000"/>
            <a:ext cx="2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Bon de Sortie</a:t>
            </a:r>
          </a:p>
        </p:txBody>
      </p:sp>
      <p:sp>
        <p:nvSpPr>
          <p:cNvPr id="35" name="TextBox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00" y="3100000"/>
            <a:ext cx="2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Externe / Interne / Prêt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Motifs structurés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Workflow approbation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Itinéraire checkpoints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Retour prêt géré</a:t>
            </a:r>
          </a:p>
        </p:txBody>
      </p:sp>
      <p:sp>
        <p:nvSpPr>
          <p:cNvPr id="36" name="RRect36"/>
          <p:cNvSpPr/>
          <p:nvPr/>
        </p:nvSpPr>
        <p:spPr>
          <a:xfrm xmlns:a="http://schemas.openxmlformats.org/drawingml/2006/main">
            <a:off x="6000000" y="2400000"/>
            <a:ext cx="2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Box3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2600000"/>
            <a:ext cx="2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Sécurité</a:t>
            </a:r>
          </a:p>
        </p:txBody>
      </p:sp>
      <p:sp>
        <p:nvSpPr>
          <p:cNvPr id="38" name="TextBox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3100000"/>
            <a:ext cx="2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Scan QR aux barrières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Contrôle checkpoints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Alertes anomalies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Historique passages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Dashboard temps réel</a:t>
            </a:r>
          </a:p>
        </p:txBody>
      </p:sp>
      <p:sp>
        <p:nvSpPr>
          <p:cNvPr id="39" name="RRect39"/>
          <p:cNvSpPr/>
          <p:nvPr/>
        </p:nvSpPr>
        <p:spPr>
          <a:xfrm xmlns:a="http://schemas.openxmlformats.org/drawingml/2006/main">
            <a:off x="8800000" y="2400000"/>
            <a:ext cx="26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Box4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000" y="2600000"/>
            <a:ext cx="2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Administration</a:t>
            </a:r>
          </a:p>
        </p:txBody>
      </p:sp>
      <p:sp>
        <p:nvSpPr>
          <p:cNvPr id="41" name="TextBox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000" y="3100000"/>
            <a:ext cx="24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Gestion utilisateurs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Rôles &amp; permissions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Données référence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Sites &amp; checkpoints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Configuration système</a:t>
            </a:r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Box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44" name="TextBox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45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Rect46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Box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8" name="TextBox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Architecture Technique</a:t>
            </a:r>
          </a:p>
        </p:txBody>
      </p:sp>
      <p:sp>
        <p:nvSpPr>
          <p:cNvPr id="49" name="Rect49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Rect50"/>
          <p:cNvSpPr/>
          <p:nvPr/>
        </p:nvSpPr>
        <p:spPr>
          <a:xfrm xmlns:a="http://schemas.openxmlformats.org/drawingml/2006/main">
            <a:off x="1500000" y="1600000"/>
            <a:ext cx="90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Box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17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PRÉSENTATION</a:t>
            </a:r>
          </a:p>
        </p:txBody>
      </p:sp>
      <p:sp>
        <p:nvSpPr>
          <p:cNvPr id="52" name="TextBox5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0" y="1700000"/>
            <a:ext cx="5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Blazor Server  •  Radzen UI 8.7  •  Pages Razor</a:t>
            </a:r>
          </a:p>
        </p:txBody>
      </p:sp>
      <p:sp>
        <p:nvSpPr>
          <p:cNvPr id="53" name="RRect53"/>
          <p:cNvSpPr/>
          <p:nvPr/>
        </p:nvSpPr>
        <p:spPr>
          <a:xfrm xmlns:a="http://schemas.openxmlformats.org/drawingml/2006/main">
            <a:off x="1500000" y="2400000"/>
            <a:ext cx="90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Box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25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55" name="TextBox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0" y="2500000"/>
            <a:ext cx="5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Services  •  DTOs  •  Interfaces  •  Validators</a:t>
            </a:r>
          </a:p>
        </p:txBody>
      </p:sp>
      <p:sp>
        <p:nvSpPr>
          <p:cNvPr id="56" name="RRect56"/>
          <p:cNvSpPr/>
          <p:nvPr/>
        </p:nvSpPr>
        <p:spPr>
          <a:xfrm xmlns:a="http://schemas.openxmlformats.org/drawingml/2006/main">
            <a:off x="1500000" y="3200000"/>
            <a:ext cx="90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Box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33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DOMAINE</a:t>
            </a:r>
          </a:p>
        </p:txBody>
      </p:sp>
      <p:sp>
        <p:nvSpPr>
          <p:cNvPr id="58" name="TextBox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0" y="3300000"/>
            <a:ext cx="5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Entités  •  Enums  •  Value Objects  •  Règles métier</a:t>
            </a:r>
          </a:p>
        </p:txBody>
      </p:sp>
      <p:sp>
        <p:nvSpPr>
          <p:cNvPr id="59" name="RRect59"/>
          <p:cNvSpPr/>
          <p:nvPr/>
        </p:nvSpPr>
        <p:spPr>
          <a:xfrm xmlns:a="http://schemas.openxmlformats.org/drawingml/2006/main">
            <a:off x="1500000" y="4000000"/>
            <a:ext cx="90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Box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41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INFRASTRUCTURE</a:t>
            </a:r>
          </a:p>
        </p:txBody>
      </p:sp>
      <p:sp>
        <p:nvSpPr>
          <p:cNvPr id="61" name="TextBox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0" y="4100000"/>
            <a:ext cx="5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EF Core 10  •  SQL Server  •  Repositories  •  Services</a:t>
            </a:r>
          </a:p>
        </p:txBody>
      </p:sp>
      <p:sp>
        <p:nvSpPr>
          <p:cNvPr id="62" name="TextBox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1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6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MODULES</a:t>
            </a:r>
          </a:p>
        </p:txBody>
      </p:sp>
      <p:sp>
        <p:nvSpPr>
          <p:cNvPr id="63" name="RRect63"/>
          <p:cNvSpPr/>
          <p:nvPr/>
        </p:nvSpPr>
        <p:spPr>
          <a:xfrm xmlns:a="http://schemas.openxmlformats.org/drawingml/2006/main">
            <a:off x="400000" y="5600000"/>
            <a:ext cx="22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Box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57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BonEntree</a:t>
            </a:r>
          </a:p>
        </p:txBody>
      </p:sp>
      <p:sp>
        <p:nvSpPr>
          <p:cNvPr id="65" name="RRect65"/>
          <p:cNvSpPr/>
          <p:nvPr/>
        </p:nvSpPr>
        <p:spPr>
          <a:xfrm xmlns:a="http://schemas.openxmlformats.org/drawingml/2006/main">
            <a:off x="2850000" y="5600000"/>
            <a:ext cx="22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TextBox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000" y="57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BonSortie</a:t>
            </a:r>
          </a:p>
        </p:txBody>
      </p:sp>
      <p:sp>
        <p:nvSpPr>
          <p:cNvPr id="67" name="RRect67"/>
          <p:cNvSpPr/>
          <p:nvPr/>
        </p:nvSpPr>
        <p:spPr>
          <a:xfrm xmlns:a="http://schemas.openxmlformats.org/drawingml/2006/main">
            <a:off x="5300000" y="5600000"/>
            <a:ext cx="22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Box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0" y="57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Sécurité</a:t>
            </a:r>
          </a:p>
        </p:txBody>
      </p:sp>
      <p:sp>
        <p:nvSpPr>
          <p:cNvPr id="69" name="RRect69"/>
          <p:cNvSpPr/>
          <p:nvPr/>
        </p:nvSpPr>
        <p:spPr>
          <a:xfrm xmlns:a="http://schemas.openxmlformats.org/drawingml/2006/main">
            <a:off x="7750000" y="5600000"/>
            <a:ext cx="22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64748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Box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000" y="57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Shared</a:t>
            </a:r>
          </a:p>
        </p:txBody>
      </p:sp>
      <p:sp>
        <p:nvSpPr>
          <p:cNvPr id="71" name="TextBox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3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.NET 10.0  •  Blazor Server  •  EF Core 10  •  SQL Server  •  Radzen UI  •  Clean Architecture  •  Modular Design</a:t>
            </a:r>
          </a:p>
        </p:txBody>
      </p:sp>
      <p:sp>
        <p:nvSpPr>
          <p:cNvPr id="72" name="Rect72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Box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74" name="TextBox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Rect75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RRect76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TextBox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78" name="TextBox7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Workflow d'Approbation</a:t>
            </a:r>
          </a:p>
        </p:txBody>
      </p:sp>
      <p:sp>
        <p:nvSpPr>
          <p:cNvPr id="79" name="Rect79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Box8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Chaque bon de sortie suit un processus d'approbation multi-niveaux adapté au type de matériel</a:t>
            </a:r>
          </a:p>
        </p:txBody>
      </p:sp>
      <p:sp>
        <p:nvSpPr>
          <p:cNvPr id="81" name="RRect81"/>
          <p:cNvSpPr/>
          <p:nvPr/>
        </p:nvSpPr>
        <p:spPr>
          <a:xfrm xmlns:a="http://schemas.openxmlformats.org/drawingml/2006/main">
            <a:off x="3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64748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" name="TextBox8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Création</a:t>
            </a:r>
            <a:br/>
            <a:r>
              <a:rPr lang="fr-FR" sz="120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(Draft)</a:t>
            </a:r>
          </a:p>
        </p:txBody>
      </p:sp>
      <p:sp>
        <p:nvSpPr>
          <p:cNvPr id="83" name="TextBox8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4" name="RRect84"/>
          <p:cNvSpPr/>
          <p:nvPr/>
        </p:nvSpPr>
        <p:spPr>
          <a:xfrm xmlns:a="http://schemas.openxmlformats.org/drawingml/2006/main">
            <a:off x="24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TextBox8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Soumission</a:t>
            </a:r>
          </a:p>
        </p:txBody>
      </p:sp>
      <p:sp>
        <p:nvSpPr>
          <p:cNvPr id="86" name="TextBox8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7" name="RRect87"/>
          <p:cNvSpPr/>
          <p:nvPr/>
        </p:nvSpPr>
        <p:spPr>
          <a:xfrm xmlns:a="http://schemas.openxmlformats.org/drawingml/2006/main">
            <a:off x="45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TextBox8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Approbation</a:t>
            </a:r>
            <a:br/>
            <a:r>
              <a:rPr lang="fr-FR" sz="12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Niveau 1</a:t>
            </a:r>
          </a:p>
        </p:txBody>
      </p:sp>
      <p:sp>
        <p:nvSpPr>
          <p:cNvPr id="89" name="TextBox8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0" name="RRect90"/>
          <p:cNvSpPr/>
          <p:nvPr/>
        </p:nvSpPr>
        <p:spPr>
          <a:xfrm xmlns:a="http://schemas.openxmlformats.org/drawingml/2006/main">
            <a:off x="66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TextBox9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Approbation</a:t>
            </a:r>
            <a:br/>
            <a:r>
              <a:rPr lang="fr-FR" sz="12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Niveau 2</a:t>
            </a:r>
          </a:p>
        </p:txBody>
      </p:sp>
      <p:sp>
        <p:nvSpPr>
          <p:cNvPr id="92" name="TextBox9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3" name="RRect93"/>
          <p:cNvSpPr/>
          <p:nvPr/>
        </p:nvSpPr>
        <p:spPr>
          <a:xfrm xmlns:a="http://schemas.openxmlformats.org/drawingml/2006/main">
            <a:off x="87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" name="TextBox9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Approbation</a:t>
            </a:r>
            <a:br/>
            <a:r>
              <a:rPr lang="fr-FR" sz="12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Finale</a:t>
            </a:r>
          </a:p>
        </p:txBody>
      </p:sp>
      <p:sp>
        <p:nvSpPr>
          <p:cNvPr id="95" name="TextBox9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6" name="RRect96"/>
          <p:cNvSpPr/>
          <p:nvPr/>
        </p:nvSpPr>
        <p:spPr>
          <a:xfrm xmlns:a="http://schemas.openxmlformats.org/drawingml/2006/main">
            <a:off x="10800000" y="2300000"/>
            <a:ext cx="18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" name="TextBox9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000" y="2500000"/>
            <a:ext cx="16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Approuvé</a:t>
            </a:r>
            <a:br/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(Bon actif)</a:t>
            </a:r>
          </a:p>
        </p:txBody>
      </p:sp>
      <p:sp>
        <p:nvSpPr>
          <p:cNvPr id="98" name="RRect98"/>
          <p:cNvSpPr/>
          <p:nvPr/>
        </p:nvSpPr>
        <p:spPr>
          <a:xfrm xmlns:a="http://schemas.openxmlformats.org/drawingml/2006/main">
            <a:off x="400000" y="3900000"/>
            <a:ext cx="110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" name="TextBox9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050000"/>
            <a:ext cx="10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Niveaux d'approbation par type de matériel</a:t>
            </a:r>
          </a:p>
        </p:txBody>
      </p:sp>
      <p:sp>
        <p:nvSpPr>
          <p:cNvPr id="100" name="TextBox10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450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Fin de Chantier</a:t>
            </a:r>
          </a:p>
        </p:txBody>
      </p:sp>
      <p:sp>
        <p:nvSpPr>
          <p:cNvPr id="101" name="TextBox1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50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Section → Surintendant → Directeur</a:t>
            </a:r>
          </a:p>
        </p:txBody>
      </p:sp>
      <p:sp>
        <p:nvSpPr>
          <p:cNvPr id="102" name="TextBox1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450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3 niveaux</a:t>
            </a:r>
          </a:p>
        </p:txBody>
      </p:sp>
      <p:sp>
        <p:nvSpPr>
          <p:cNvPr id="103" name="TextBox1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475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Résidu / Radioprotection</a:t>
            </a:r>
          </a:p>
        </p:txBody>
      </p:sp>
      <p:sp>
        <p:nvSpPr>
          <p:cNvPr id="104" name="TextBox1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75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Section → Surintendant → Directeur</a:t>
            </a:r>
          </a:p>
        </p:txBody>
      </p:sp>
      <p:sp>
        <p:nvSpPr>
          <p:cNvPr id="105" name="TextBox1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475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3 niveaux</a:t>
            </a:r>
          </a:p>
        </p:txBody>
      </p:sp>
      <p:sp>
        <p:nvSpPr>
          <p:cNvPr id="106" name="TextBox1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500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Modification / Réparation</a:t>
            </a:r>
          </a:p>
        </p:txBody>
      </p:sp>
      <p:sp>
        <p:nvSpPr>
          <p:cNvPr id="107" name="TextBox1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00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Section → Surintendant</a:t>
            </a:r>
          </a:p>
        </p:txBody>
      </p:sp>
      <p:sp>
        <p:nvSpPr>
          <p:cNvPr id="108" name="TextBox1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500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2 niveaux</a:t>
            </a:r>
          </a:p>
        </p:txBody>
      </p:sp>
      <p:sp>
        <p:nvSpPr>
          <p:cNvPr id="109" name="TextBox1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525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Informatique</a:t>
            </a:r>
          </a:p>
        </p:txBody>
      </p:sp>
      <p:sp>
        <p:nvSpPr>
          <p:cNvPr id="110" name="TextBox1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25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IT → Directeur IT</a:t>
            </a:r>
          </a:p>
        </p:txBody>
      </p:sp>
      <p:sp>
        <p:nvSpPr>
          <p:cNvPr id="111" name="TextBox1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525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2 niveaux</a:t>
            </a:r>
          </a:p>
        </p:txBody>
      </p:sp>
      <p:sp>
        <p:nvSpPr>
          <p:cNvPr id="112" name="TextBox1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550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Circulaire</a:t>
            </a:r>
          </a:p>
        </p:txBody>
      </p:sp>
      <p:sp>
        <p:nvSpPr>
          <p:cNvPr id="113" name="TextBox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50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Section (validité 6 mois)</a:t>
            </a:r>
          </a:p>
        </p:txBody>
      </p:sp>
      <p:sp>
        <p:nvSpPr>
          <p:cNvPr id="114" name="TextBox1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550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1 niveau</a:t>
            </a:r>
          </a:p>
        </p:txBody>
      </p:sp>
      <p:sp>
        <p:nvSpPr>
          <p:cNvPr id="115" name="TextBox1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5750000"/>
            <a:ext cx="2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Prêt</a:t>
            </a:r>
          </a:p>
        </p:txBody>
      </p:sp>
      <p:sp>
        <p:nvSpPr>
          <p:cNvPr id="116" name="TextBox1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750000"/>
            <a:ext cx="5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Chef Section → Surintendant (retour obligatoire)</a:t>
            </a:r>
          </a:p>
        </p:txBody>
      </p:sp>
      <p:sp>
        <p:nvSpPr>
          <p:cNvPr id="117" name="TextBox1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5750000"/>
            <a:ext cx="18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2 niveaux</a:t>
            </a:r>
          </a:p>
        </p:txBody>
      </p:sp>
      <p:sp>
        <p:nvSpPr>
          <p:cNvPr id="118" name="Rect118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TextBox1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120" name="TextBox1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Rect121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" name="RRect122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" name="TextBox1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24" name="TextBox12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Architecture Base de Données</a:t>
            </a:r>
          </a:p>
        </p:txBody>
      </p:sp>
      <p:sp>
        <p:nvSpPr>
          <p:cNvPr id="125" name="Rect125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TextBox1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4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SQL Server  •  Convention de nommage KCC : dbo.T_NomTable  •  35+ tables  •  Schéma normalisé</a:t>
            </a:r>
          </a:p>
        </p:txBody>
      </p:sp>
      <p:sp>
        <p:nvSpPr>
          <p:cNvPr id="127" name="RRect127"/>
          <p:cNvSpPr/>
          <p:nvPr/>
        </p:nvSpPr>
        <p:spPr>
          <a:xfrm xmlns:a="http://schemas.openxmlformats.org/drawingml/2006/main">
            <a:off x="400000" y="2100000"/>
            <a:ext cx="3600000" cy="3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TextBox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2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BON D'ENTRÉE</a:t>
            </a:r>
          </a:p>
        </p:txBody>
      </p:sp>
      <p:sp>
        <p:nvSpPr>
          <p:cNvPr id="129" name="TextBox12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700000"/>
            <a:ext cx="34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T_BonsEntree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PK: IdBon, NuméroRef, Statut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T_MaterielsEntree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FK → BonsEntree, Qté, Serial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T_HistoriquesBonEntree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Actions, Dates, Auteurs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T_Compagnies / T_Contrats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Données contractuelles</a:t>
            </a:r>
          </a:p>
        </p:txBody>
      </p:sp>
      <p:sp>
        <p:nvSpPr>
          <p:cNvPr id="130" name="RRect130"/>
          <p:cNvSpPr/>
          <p:nvPr/>
        </p:nvSpPr>
        <p:spPr>
          <a:xfrm xmlns:a="http://schemas.openxmlformats.org/drawingml/2006/main">
            <a:off x="4200000" y="2100000"/>
            <a:ext cx="3600000" cy="3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" name="TextBox1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0" y="22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BON DE SORTIE</a:t>
            </a:r>
          </a:p>
        </p:txBody>
      </p:sp>
      <p:sp>
        <p:nvSpPr>
          <p:cNvPr id="132" name="TextBox13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0" y="2700000"/>
            <a:ext cx="34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T_BonsSortie (TPH)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Externe / Interne / Prêt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T_MaterielsSortie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FK → Matériel Entrée (traçabilité)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T_Approbations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Multi-niveaux, Workflow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T_CheckpointPassages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Scan QR, Dates, Statuts</a:t>
            </a:r>
          </a:p>
        </p:txBody>
      </p:sp>
      <p:sp>
        <p:nvSpPr>
          <p:cNvPr id="133" name="RRect133"/>
          <p:cNvSpPr/>
          <p:nvPr/>
        </p:nvSpPr>
        <p:spPr>
          <a:xfrm xmlns:a="http://schemas.openxmlformats.org/drawingml/2006/main">
            <a:off x="8000000" y="2100000"/>
            <a:ext cx="3600000" cy="3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" name="TextBox1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00" y="2250000"/>
            <a:ext cx="3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RÉFÉRENCE &amp; SÉCURITÉ</a:t>
            </a:r>
          </a:p>
        </p:txBody>
      </p:sp>
      <p:sp>
        <p:nvSpPr>
          <p:cNvPr id="135" name="TextBox1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00" y="2700000"/>
            <a:ext cx="34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T_Sites / T_Checkpoints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Barrières, Codes, Ordres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T_CategoriesSortie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EXT / INT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T_RaisonsSortie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+ TypeMaterielDefaut (mapping)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/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T_Utilisateurs / T_Roles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 Authentification &amp; permissions</a:t>
            </a:r>
          </a:p>
        </p:txBody>
      </p:sp>
      <p:sp>
        <p:nvSpPr>
          <p:cNvPr id="136" name="TextBox13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8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Stratégie d'héritage : TPH (Table-Per-Hierarchy)  •  Audit automatique (CreatedAt, ModifiedAt)  •  Soft Delete  •  42 migrations EF Core</a:t>
            </a:r>
          </a:p>
        </p:txBody>
      </p:sp>
      <p:sp>
        <p:nvSpPr>
          <p:cNvPr id="137" name="Rect137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" name="TextBox1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139" name="TextBox1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Rect140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RRect141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2" name="TextBox1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43" name="TextBox14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Unification du Système de Types</a:t>
            </a:r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TextBox1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Mapping formel entre RaisonSortie (données de référence) et TypeMateriel (enum workflow)</a:t>
            </a:r>
          </a:p>
        </p:txBody>
      </p:sp>
      <p:sp>
        <p:nvSpPr>
          <p:cNvPr id="146" name="RRect146"/>
          <p:cNvSpPr/>
          <p:nvPr/>
        </p:nvSpPr>
        <p:spPr>
          <a:xfrm xmlns:a="http://schemas.openxmlformats.org/drawingml/2006/main">
            <a:off x="400000" y="2200000"/>
            <a:ext cx="52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BEE"/>
          </a:solidFill>
          <a:ln xmlns:a="http://schemas.openxmlformats.org/drawingml/2006/main" w="12700">
            <a:solidFill>
              <a:srgbClr val="C6282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" name="TextBox1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2350000"/>
            <a:ext cx="4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AVANT — Deux systèmes parallèles</a:t>
            </a:r>
          </a:p>
        </p:txBody>
      </p:sp>
      <p:sp>
        <p:nvSpPr>
          <p:cNvPr id="148" name="TextBox1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2800000"/>
            <a:ext cx="4800000" cy="1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TypeMateriel : enum compilé (workflow)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RaisonSortie : table BD (business rules)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Aucun lien formel entre les deux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UI ne passait jamais TypeMateriel (= 0, invalide)</a:t>
            </a:r>
          </a:p>
        </p:txBody>
      </p:sp>
      <p:sp>
        <p:nvSpPr>
          <p:cNvPr id="149" name="RRect149"/>
          <p:cNvSpPr/>
          <p:nvPr/>
        </p:nvSpPr>
        <p:spPr>
          <a:xfrm xmlns:a="http://schemas.openxmlformats.org/drawingml/2006/main">
            <a:off x="6000000" y="2200000"/>
            <a:ext cx="52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" name="TextBox1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2350000"/>
            <a:ext cx="4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APRÈS — Source Unique de Vérité</a:t>
            </a:r>
          </a:p>
        </p:txBody>
      </p:sp>
      <p:sp>
        <p:nvSpPr>
          <p:cNvPr id="151" name="TextBox1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2800000"/>
            <a:ext cx="4800000" cy="1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RaisonSortie.TypeMaterielDefaut → mapping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Auto-dérivation dans les 3 méthodes Create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UI passe RaisonSortieCode (pas TypeMateriel)</a:t>
            </a:r>
            <a:br/>
            <a:r>
              <a:rPr lang="fr-FR" sz="12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Cohérence garantie entre BD et workflow</a:t>
            </a:r>
          </a:p>
        </p:txBody>
      </p:sp>
      <p:sp>
        <p:nvSpPr>
          <p:cNvPr id="152" name="RRect152"/>
          <p:cNvSpPr/>
          <p:nvPr/>
        </p:nvSpPr>
        <p:spPr>
          <a:xfrm xmlns:a="http://schemas.openxmlformats.org/drawingml/2006/main">
            <a:off x="400000" y="4500000"/>
            <a:ext cx="110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TextBox1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600000"/>
            <a:ext cx="10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Mapping RaisonSortie → TypeMateriel</a:t>
            </a:r>
          </a:p>
        </p:txBody>
      </p:sp>
      <p:sp>
        <p:nvSpPr>
          <p:cNvPr id="154" name="TextBox1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00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FIN_CHANTIER</a:t>
            </a:r>
          </a:p>
        </p:txBody>
      </p:sp>
      <p:sp>
        <p:nvSpPr>
          <p:cNvPr id="155" name="TextBox15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00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6" name="TextBox1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00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FinChantier (3)</a:t>
            </a:r>
          </a:p>
        </p:txBody>
      </p:sp>
      <p:sp>
        <p:nvSpPr>
          <p:cNvPr id="157" name="TextBox1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18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RESIDU</a:t>
            </a:r>
          </a:p>
        </p:txBody>
      </p:sp>
      <p:sp>
        <p:nvSpPr>
          <p:cNvPr id="158" name="TextBox1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18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9" name="TextBox1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18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Residu (4)</a:t>
            </a:r>
          </a:p>
        </p:txBody>
      </p:sp>
      <p:sp>
        <p:nvSpPr>
          <p:cNvPr id="160" name="TextBox16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36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RADIO_PROT</a:t>
            </a:r>
          </a:p>
        </p:txBody>
      </p:sp>
      <p:sp>
        <p:nvSpPr>
          <p:cNvPr id="161" name="TextBox16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36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2" name="TextBox16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36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Radioprotection (5)</a:t>
            </a:r>
          </a:p>
        </p:txBody>
      </p:sp>
      <p:sp>
        <p:nvSpPr>
          <p:cNvPr id="163" name="TextBox16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54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MODIF / REPAR / RENOV</a:t>
            </a:r>
          </a:p>
        </p:txBody>
      </p:sp>
      <p:sp>
        <p:nvSpPr>
          <p:cNvPr id="164" name="TextBox16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54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5" name="TextBox16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54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Modification (6)</a:t>
            </a:r>
          </a:p>
        </p:txBody>
      </p:sp>
      <p:sp>
        <p:nvSpPr>
          <p:cNvPr id="166" name="TextBox16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72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INFO</a:t>
            </a:r>
          </a:p>
        </p:txBody>
      </p:sp>
      <p:sp>
        <p:nvSpPr>
          <p:cNvPr id="167" name="TextBox16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72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8" name="TextBox16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72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Informatique (2)</a:t>
            </a:r>
          </a:p>
        </p:txBody>
      </p:sp>
      <p:sp>
        <p:nvSpPr>
          <p:cNvPr id="169" name="TextBox16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590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CIRC</a:t>
            </a:r>
          </a:p>
        </p:txBody>
      </p:sp>
      <p:sp>
        <p:nvSpPr>
          <p:cNvPr id="170" name="TextBox17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590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1" name="TextBox17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590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Circulaire (1)</a:t>
            </a:r>
          </a:p>
        </p:txBody>
      </p:sp>
      <p:sp>
        <p:nvSpPr>
          <p:cNvPr id="172" name="TextBox17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608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1" dirty="0">
                <a:solidFill>
                  <a:srgbClr val="1A1A2E"/>
                </a:solidFill>
                <a:latin typeface="Consolas"/>
                <a:ea typeface="Consolas"/>
                <a:cs typeface="Consolas"/>
              </a:rPr>
              <a:t>PRET</a:t>
            </a:r>
          </a:p>
        </p:txBody>
      </p:sp>
      <p:sp>
        <p:nvSpPr>
          <p:cNvPr id="173" name="TextBox17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6080000"/>
            <a:ext cx="5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4" name="TextBox17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6080000"/>
            <a:ext cx="3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050" b="0" dirty="0">
                <a:solidFill>
                  <a:srgbClr val="003366"/>
                </a:solidFill>
                <a:latin typeface="Consolas"/>
                <a:ea typeface="Consolas"/>
                <a:cs typeface="Consolas"/>
              </a:rPr>
              <a:t>Pret (7)</a:t>
            </a:r>
          </a:p>
        </p:txBody>
      </p:sp>
      <p:sp>
        <p:nvSpPr>
          <p:cNvPr id="175" name="Rect175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" name="TextBox17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177" name="TextBox17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Rect178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9" name="RRect179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" name="TextBox18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181" name="TextBox18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Sécurité &amp; Contrôle aux Barrières</a:t>
            </a:r>
          </a:p>
        </p:txBody>
      </p:sp>
      <p:sp>
        <p:nvSpPr>
          <p:cNvPr id="182" name="Rect182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" name="TextBox18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3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Chaque bon de sortie approuvé génère un QR Code unique scanné aux checkpoints de l'itinéraire</a:t>
            </a:r>
          </a:p>
        </p:txBody>
      </p:sp>
      <p:sp>
        <p:nvSpPr>
          <p:cNvPr id="184" name="RRect184"/>
          <p:cNvSpPr/>
          <p:nvPr/>
        </p:nvSpPr>
        <p:spPr>
          <a:xfrm xmlns:a="http://schemas.openxmlformats.org/drawingml/2006/main">
            <a:off x="300000" y="2300000"/>
            <a:ext cx="2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" name="TextBox18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450000"/>
            <a:ext cx="1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BSM Approuvé</a:t>
            </a:r>
            <a:br/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QR Code généré</a:t>
            </a:r>
          </a:p>
        </p:txBody>
      </p:sp>
      <p:sp>
        <p:nvSpPr>
          <p:cNvPr id="186" name="TextBox18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7" name="RRect187"/>
          <p:cNvSpPr/>
          <p:nvPr/>
        </p:nvSpPr>
        <p:spPr>
          <a:xfrm xmlns:a="http://schemas.openxmlformats.org/drawingml/2006/main">
            <a:off x="2600000" y="2300000"/>
            <a:ext cx="2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" name="TextBox18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000" y="2450000"/>
            <a:ext cx="1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Agent scanne</a:t>
            </a:r>
            <a:br/>
            <a:r>
              <a:rPr lang="fr-FR" sz="12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au checkpoint</a:t>
            </a:r>
          </a:p>
        </p:txBody>
      </p:sp>
      <p:sp>
        <p:nvSpPr>
          <p:cNvPr id="189" name="TextBox18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0" name="RRect190"/>
          <p:cNvSpPr/>
          <p:nvPr/>
        </p:nvSpPr>
        <p:spPr>
          <a:xfrm xmlns:a="http://schemas.openxmlformats.org/drawingml/2006/main">
            <a:off x="4900000" y="2300000"/>
            <a:ext cx="2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1" name="TextBox19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0" y="2450000"/>
            <a:ext cx="1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Vérification</a:t>
            </a:r>
            <a:br/>
            <a:r>
              <a:rPr lang="fr-FR" sz="12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automatique</a:t>
            </a:r>
          </a:p>
        </p:txBody>
      </p:sp>
      <p:sp>
        <p:nvSpPr>
          <p:cNvPr id="192" name="TextBox19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3" name="RRect193"/>
          <p:cNvSpPr/>
          <p:nvPr/>
        </p:nvSpPr>
        <p:spPr>
          <a:xfrm xmlns:a="http://schemas.openxmlformats.org/drawingml/2006/main">
            <a:off x="7200000" y="2300000"/>
            <a:ext cx="2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4" name="TextBox19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000" y="2450000"/>
            <a:ext cx="1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Passage</a:t>
            </a:r>
            <a:br/>
            <a:r>
              <a:rPr lang="fr-FR" sz="12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enregistré</a:t>
            </a:r>
          </a:p>
        </p:txBody>
      </p:sp>
      <p:sp>
        <p:nvSpPr>
          <p:cNvPr id="195" name="TextBox19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000" y="2600000"/>
            <a:ext cx="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6" name="RRect196"/>
          <p:cNvSpPr/>
          <p:nvPr/>
        </p:nvSpPr>
        <p:spPr>
          <a:xfrm xmlns:a="http://schemas.openxmlformats.org/drawingml/2006/main">
            <a:off x="9500000" y="2300000"/>
            <a:ext cx="2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BEE"/>
          </a:solidFill>
          <a:ln xmlns:a="http://schemas.openxmlformats.org/drawingml/2006/main" w="12700">
            <a:solidFill>
              <a:srgbClr val="C6282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7" name="TextBox19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000" y="2450000"/>
            <a:ext cx="1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Alerte si</a:t>
            </a:r>
            <a:br/>
            <a:r>
              <a:rPr lang="fr-FR" sz="12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anomalie</a:t>
            </a:r>
          </a:p>
        </p:txBody>
      </p:sp>
      <p:sp>
        <p:nvSpPr>
          <p:cNvPr id="198" name="RRect198"/>
          <p:cNvSpPr/>
          <p:nvPr/>
        </p:nvSpPr>
        <p:spPr>
          <a:xfrm xmlns:a="http://schemas.openxmlformats.org/drawingml/2006/main">
            <a:off x="400000" y="3700000"/>
            <a:ext cx="52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9" name="TextBox19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3850000"/>
            <a:ext cx="4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Types de contrôle</a:t>
            </a:r>
          </a:p>
        </p:txBody>
      </p:sp>
      <p:sp>
        <p:nvSpPr>
          <p:cNvPr id="200" name="BulletList20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250000"/>
            <a:ext cx="48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Vérification statut du bon (approuvé, non expiré)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Contrôle de l'itinéraire prévu vs réel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Vérification des matériels déclarés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Historique horodaté de chaque passage</a:t>
            </a:r>
          </a:p>
        </p:txBody>
      </p:sp>
      <p:sp>
        <p:nvSpPr>
          <p:cNvPr id="201" name="RRect201"/>
          <p:cNvSpPr/>
          <p:nvPr/>
        </p:nvSpPr>
        <p:spPr>
          <a:xfrm xmlns:a="http://schemas.openxmlformats.org/drawingml/2006/main">
            <a:off x="5800000" y="3700000"/>
            <a:ext cx="58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2" name="TextBox2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3850000"/>
            <a:ext cx="5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Rôles du système</a:t>
            </a:r>
          </a:p>
        </p:txBody>
      </p:sp>
      <p:sp>
        <p:nvSpPr>
          <p:cNvPr id="203" name="BulletList2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4250000"/>
            <a:ext cx="54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Demandeur : crée le bon de sortie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Approbateur (N1/N2/N3) : valide selon hiérarchie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Agent Sécurité : scanne aux barrières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Administrateur : gère le système</a:t>
            </a:r>
          </a:p>
        </p:txBody>
      </p:sp>
      <p:sp>
        <p:nvSpPr>
          <p:cNvPr id="204" name="Rect204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5" name="TextBox2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206" name="TextBox2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Rect207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8" name="RRect208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9" name="TextBox2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210" name="TextBox2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Bénéfices Attendus</a:t>
            </a:r>
          </a:p>
        </p:txBody>
      </p:sp>
      <p:sp>
        <p:nvSpPr>
          <p:cNvPr id="211" name="Rect211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2" name="RRect212"/>
          <p:cNvSpPr/>
          <p:nvPr/>
        </p:nvSpPr>
        <p:spPr>
          <a:xfrm xmlns:a="http://schemas.openxmlformats.org/drawingml/2006/main">
            <a:off x="400000" y="1600000"/>
            <a:ext cx="25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3" name="TextBox2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800000"/>
            <a:ext cx="23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36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90%</a:t>
            </a:r>
          </a:p>
        </p:txBody>
      </p:sp>
      <p:sp>
        <p:nvSpPr>
          <p:cNvPr id="214" name="TextBox2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5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Réduction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temps traitement</a:t>
            </a:r>
          </a:p>
        </p:txBody>
      </p:sp>
      <p:sp>
        <p:nvSpPr>
          <p:cNvPr id="215" name="RRect215"/>
          <p:cNvSpPr/>
          <p:nvPr/>
        </p:nvSpPr>
        <p:spPr>
          <a:xfrm xmlns:a="http://schemas.openxmlformats.org/drawingml/2006/main">
            <a:off x="3100000" y="1600000"/>
            <a:ext cx="25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6" name="TextBox2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000" y="1800000"/>
            <a:ext cx="23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36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&lt; 1h</a:t>
            </a:r>
          </a:p>
        </p:txBody>
      </p:sp>
      <p:sp>
        <p:nvSpPr>
          <p:cNvPr id="217" name="TextBox2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000" y="25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Approbation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moyenne</a:t>
            </a:r>
          </a:p>
        </p:txBody>
      </p:sp>
      <p:sp>
        <p:nvSpPr>
          <p:cNvPr id="218" name="RRect218"/>
          <p:cNvSpPr/>
          <p:nvPr/>
        </p:nvSpPr>
        <p:spPr>
          <a:xfrm xmlns:a="http://schemas.openxmlformats.org/drawingml/2006/main">
            <a:off x="5800000" y="1600000"/>
            <a:ext cx="25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9" name="TextBox2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00" y="1800000"/>
            <a:ext cx="23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36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220" name="TextBox22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00" y="25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Traçabilité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matériels</a:t>
            </a:r>
          </a:p>
        </p:txBody>
      </p:sp>
      <p:sp>
        <p:nvSpPr>
          <p:cNvPr id="221" name="RRect221"/>
          <p:cNvSpPr/>
          <p:nvPr/>
        </p:nvSpPr>
        <p:spPr>
          <a:xfrm xmlns:a="http://schemas.openxmlformats.org/drawingml/2006/main">
            <a:off x="8500000" y="1600000"/>
            <a:ext cx="25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2" name="TextBox22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0000" y="1800000"/>
            <a:ext cx="23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36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23" name="TextBox22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0000" y="25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Pertes</a:t>
            </a:r>
            <a:br/>
            <a:r>
              <a:rPr lang="fr-FR" sz="1100" b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non détectées</a:t>
            </a:r>
          </a:p>
        </p:txBody>
      </p:sp>
      <p:sp>
        <p:nvSpPr>
          <p:cNvPr id="224" name="RRect224"/>
          <p:cNvSpPr/>
          <p:nvPr/>
        </p:nvSpPr>
        <p:spPr>
          <a:xfrm xmlns:a="http://schemas.openxmlformats.org/drawingml/2006/main">
            <a:off x="400000" y="3500000"/>
            <a:ext cx="110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5" name="TextBox22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37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Bénéfices opérationnels</a:t>
            </a:r>
          </a:p>
        </p:txBody>
      </p:sp>
      <p:sp>
        <p:nvSpPr>
          <p:cNvPr id="226" name="BulletList22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150000"/>
            <a:ext cx="48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Élimination du papier dans le processus BSM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Visibilité temps réel sur tous les flux matériels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Approbations à distance (mobile-friendly)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Reporting &amp; analytics centralisés</a:t>
            </a:r>
          </a:p>
        </p:txBody>
      </p:sp>
      <p:sp>
        <p:nvSpPr>
          <p:cNvPr id="227" name="TextBox22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3700000"/>
            <a:ext cx="5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Bénéfices stratégiques</a:t>
            </a:r>
          </a:p>
        </p:txBody>
      </p:sp>
      <p:sp>
        <p:nvSpPr>
          <p:cNvPr id="228" name="BulletList2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4150000"/>
            <a:ext cx="50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Conformité réglementaire renforcée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Réduction des pertes et vols de matériels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Base de données pour audit &amp; compliance</a:t>
            </a:r>
          </a:p>
          <a:p xmlns:a="http://schemas.openxmlformats.org/drawingml/2006/main">
            <a:pPr marL="228600" indent="-228600"/>
            <a:r>
              <a:rPr lang="fr-FR" sz="1200" dirty="0">
                <a:solidFill>
                  <a:srgbClr val="1A1A2E"/>
                </a:solidFill>
                <a:latin typeface="Calibri"/>
                <a:ea typeface="Calibri"/>
              </a:rPr>
              <a:t>•  Scalable à d'autres sites Glencore</a:t>
            </a:r>
          </a:p>
        </p:txBody>
      </p:sp>
      <p:sp>
        <p:nvSpPr>
          <p:cNvPr id="229" name="Rect229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0" name="TextBox23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231" name="TextBox23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Rect232"/>
          <p:cNvSpPr/>
          <p:nvPr/>
        </p:nvSpPr>
        <p:spPr>
          <a:xfrm xmlns:a="http://schemas.openxmlformats.org/drawingml/2006/main">
            <a:off x="0" y="0"/>
            <a:ext cx="12192000" cy="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3" name="RRect233"/>
          <p:cNvSpPr/>
          <p:nvPr/>
        </p:nvSpPr>
        <p:spPr>
          <a:xfrm xmlns:a="http://schemas.openxmlformats.org/drawingml/2006/main">
            <a:off x="400000" y="300000"/>
            <a:ext cx="65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4" name="TextBox23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"/>
            <a:ext cx="65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235" name="TextBox23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350000"/>
            <a:ext cx="10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Prochaines Étapes</a:t>
            </a:r>
          </a:p>
        </p:txBody>
      </p:sp>
      <p:sp>
        <p:nvSpPr>
          <p:cNvPr id="236" name="Rect236"/>
          <p:cNvSpPr/>
          <p:nvPr/>
        </p:nvSpPr>
        <p:spPr>
          <a:xfrm xmlns:a="http://schemas.openxmlformats.org/drawingml/2006/main">
            <a:off x="400000" y="1100000"/>
            <a:ext cx="11000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7" name="RRect237"/>
          <p:cNvSpPr/>
          <p:nvPr/>
        </p:nvSpPr>
        <p:spPr>
          <a:xfrm xmlns:a="http://schemas.openxmlformats.org/drawingml/2006/main">
            <a:off x="400000" y="1600000"/>
            <a:ext cx="5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2E7D3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8" name="TextBox23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1750000"/>
            <a:ext cx="4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PHASE 1 — En cours</a:t>
            </a:r>
          </a:p>
        </p:txBody>
      </p:sp>
      <p:sp>
        <p:nvSpPr>
          <p:cNvPr id="239" name="BulletList23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2150000"/>
            <a:ext cx="49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Architecture Clean Architecture validée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Modules BonEntree / BonSortie / Sécurité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Unification système de types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Tests utilisateurs &amp; feedback</a:t>
            </a:r>
          </a:p>
        </p:txBody>
      </p:sp>
      <p:sp>
        <p:nvSpPr>
          <p:cNvPr id="240" name="RRect240"/>
          <p:cNvSpPr/>
          <p:nvPr/>
        </p:nvSpPr>
        <p:spPr>
          <a:xfrm xmlns:a="http://schemas.openxmlformats.org/drawingml/2006/main">
            <a:off x="5900000" y="1600000"/>
            <a:ext cx="5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12700">
            <a:solidFill>
              <a:srgbClr val="0033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1" name="TextBox24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1750000"/>
            <a:ext cx="4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PHASE 2 — Q2 2026</a:t>
            </a:r>
          </a:p>
        </p:txBody>
      </p:sp>
      <p:sp>
        <p:nvSpPr>
          <p:cNvPr id="242" name="BulletList24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2150000"/>
            <a:ext cx="49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Dashboard &amp; reporting avancé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Application mobile (scan QR optimisé)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Intégration email &amp; notifications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Déploiement pilote sur 2 sites</a:t>
            </a:r>
          </a:p>
        </p:txBody>
      </p:sp>
      <p:sp>
        <p:nvSpPr>
          <p:cNvPr id="243" name="RRect243"/>
          <p:cNvSpPr/>
          <p:nvPr/>
        </p:nvSpPr>
        <p:spPr>
          <a:xfrm xmlns:a="http://schemas.openxmlformats.org/drawingml/2006/main">
            <a:off x="400000" y="3700000"/>
            <a:ext cx="5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651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4" name="TextBox24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3850000"/>
            <a:ext cx="4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PHASE 3 — Q3-Q4 2026</a:t>
            </a:r>
          </a:p>
        </p:txBody>
      </p:sp>
      <p:sp>
        <p:nvSpPr>
          <p:cNvPr id="245" name="BulletList24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250000"/>
            <a:ext cx="49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Déploiement sur l'ensemble des 8 sites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Module inventaire &amp; stock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API d'intégration SAP / ERP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Formation complète des utilisateurs</a:t>
            </a:r>
          </a:p>
        </p:txBody>
      </p:sp>
      <p:sp>
        <p:nvSpPr>
          <p:cNvPr id="246" name="RRect246"/>
          <p:cNvSpPr/>
          <p:nvPr/>
        </p:nvSpPr>
        <p:spPr>
          <a:xfrm xmlns:a="http://schemas.openxmlformats.org/drawingml/2006/main">
            <a:off x="5900000" y="3700000"/>
            <a:ext cx="5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7B1FA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7" name="TextBox24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3850000"/>
            <a:ext cx="4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500" b="1" dirty="0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PHASE 4 — 2027</a:t>
            </a:r>
          </a:p>
        </p:txBody>
      </p:sp>
      <p:sp>
        <p:nvSpPr>
          <p:cNvPr id="248" name="BulletList24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4250000"/>
            <a:ext cx="49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Analytics prédictif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Extension à d'autres flux (carburant, EPI)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Scaling multi-sites internationaux</a:t>
            </a:r>
          </a:p>
          <a:p xmlns:a="http://schemas.openxmlformats.org/drawingml/2006/main">
            <a:pPr marL="228600" indent="-228600"/>
            <a:r>
              <a:rPr lang="fr-FR" sz="1100" dirty="0">
                <a:solidFill>
                  <a:srgbClr val="1A1A2E"/>
                </a:solidFill>
                <a:latin typeface="Calibri"/>
                <a:ea typeface="Calibri"/>
              </a:rPr>
              <a:t>•  Maintenance &amp; évolutions continues</a:t>
            </a:r>
          </a:p>
        </p:txBody>
      </p:sp>
      <p:sp>
        <p:nvSpPr>
          <p:cNvPr id="249" name="Rect249"/>
          <p:cNvSpPr/>
          <p:nvPr/>
        </p:nvSpPr>
        <p:spPr>
          <a:xfrm xmlns:a="http://schemas.openxmlformats.org/drawingml/2006/main">
            <a:off x="0" y="6700000"/>
            <a:ext cx="12192000" cy="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0" name="TextBox25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6720000"/>
            <a:ext cx="5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 Material Flow  •  Confidentiel</a:t>
            </a:r>
          </a:p>
        </p:txBody>
      </p:sp>
      <p:sp>
        <p:nvSpPr>
          <p:cNvPr id="251" name="TextBox25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0" y="6720000"/>
            <a:ext cx="40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9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Mars 2026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  <a:ln xmlns:a="http://schemas.openxmlformats.org/drawingml/2006/main">
          <a:noFill/>
        </a:ln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Rect25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3" name="TextBox25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500000"/>
            <a:ext cx="110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54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KCC</a:t>
            </a:r>
          </a:p>
        </p:txBody>
      </p:sp>
      <p:sp>
        <p:nvSpPr>
          <p:cNvPr id="254" name="TextBox25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000" b="1" dirty="0">
                <a:solidFill>
                  <a:srgbClr val="D4A843"/>
                </a:solidFill>
                <a:latin typeface="Calibri"/>
                <a:ea typeface="Calibri"/>
                <a:cs typeface="Calibri"/>
              </a:rPr>
              <a:t>KAMOTO COPPER COMPANY</a:t>
            </a:r>
          </a:p>
        </p:txBody>
      </p:sp>
      <p:sp>
        <p:nvSpPr>
          <p:cNvPr id="255" name="Rect255"/>
          <p:cNvSpPr/>
          <p:nvPr/>
        </p:nvSpPr>
        <p:spPr>
          <a:xfrm xmlns:a="http://schemas.openxmlformats.org/drawingml/2006/main">
            <a:off x="400000" y="2900000"/>
            <a:ext cx="40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6" name="TextBox25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3200000"/>
            <a:ext cx="110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Merci</a:t>
            </a:r>
          </a:p>
        </p:txBody>
      </p:sp>
      <p:sp>
        <p:nvSpPr>
          <p:cNvPr id="257" name="TextBox25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200000"/>
            <a:ext cx="110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2400" b="0" dirty="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Des questions ?</a:t>
            </a:r>
          </a:p>
        </p:txBody>
      </p:sp>
      <p:sp>
        <p:nvSpPr>
          <p:cNvPr id="258" name="TextBox25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400000"/>
            <a:ext cx="6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4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Direction des Systèmes d'Information</a:t>
            </a:r>
          </a:p>
        </p:txBody>
      </p:sp>
      <p:sp>
        <p:nvSpPr>
          <p:cNvPr id="259" name="TextBox25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580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defRPr/>
            </a:pPr>
            <a:r>
              <a:rPr lang="fr-FR" sz="1200" b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kcc.materialflow@glencore.com</a:t>
            </a:r>
          </a:p>
        </p:txBody>
      </p:sp>
      <p:sp>
        <p:nvSpPr>
          <p:cNvPr id="260" name="Rect260"/>
          <p:cNvSpPr/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theme/theme1.xml><?xml version="1.0" encoding="utf-8"?>
<a:theme xmlns:a="http://schemas.openxmlformats.org/drawingml/2006/main" name="KCC Material Flow">
  <a:themeElements>
    <a:clrScheme name="KCC Theme">
      <a:dk1>
        <a:sysClr val="windowText" lastClr="000000"/>
      </a:dk1>
      <a:lt1>
        <a:sysClr val="window" lastClr="FFFFFF"/>
      </a:lt1>
      <a:dk2>
        <a:srgbClr val="003366"/>
      </a:dk2>
      <a:lt2>
        <a:srgbClr val="F0F4F8"/>
      </a:lt2>
      <a:accent1>
        <a:srgbClr val="003366"/>
      </a:accent1>
      <a:accent2>
        <a:srgbClr val="D4A843"/>
      </a:accent2>
      <a:accent3>
        <a:srgbClr val="2E7D32"/>
      </a:accent3>
      <a:accent4>
        <a:srgbClr val="E65100"/>
      </a:accent4>
      <a:accent5>
        <a:srgbClr val="7B1FA2"/>
      </a:accent5>
      <a:accent6>
        <a:srgbClr val="64748B"/>
      </a:accent6>
      <a:hlink>
        <a:srgbClr val="003366"/>
      </a:hlink>
      <a:folHlink>
        <a:srgbClr val="7B1FA2"/>
      </a:folHlink>
    </a:clrScheme>
    <a:fontScheme name="KCC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CC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